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8A63FF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4A9E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人生平行宇宙实验室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人生决策成长平台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727448" y="3657600"/>
            <a:ext cx="2743200" cy="27432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931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 AI  ·  Vue 3  ·  ECharts  ·  Express.js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8E8"/>
                </a:solidFill>
              </a:rPr>
              <a:t>2026 创新竞赛</a:t>
            </a:r>
            <a:endParaRPr lang="en-US" sz="12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BACKGROUND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200400" cy="2011680"/>
          </a:xfrm>
          <a:prstGeom prst="rect">
            <a:avLst>
              <a:gd name="adj" fmla="val 2273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" cy="2011680"/>
          </a:xfrm>
          <a:prstGeom prst="rect">
            <a:avLst/>
          </a:prstGeom>
          <a:solidFill>
            <a:srgbClr val="FF6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6B9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C8E8"/>
                </a:solidFill>
              </a:rPr>
              <a:t>年轻人面临重大决策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C8E8"/>
                </a:solidFill>
              </a:rPr>
              <a:t>时感到焦虑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0" y="146304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E5FF"/>
                </a:solidFill>
              </a:rPr>
              <a:t>如果当初做了另一个选择，你的人生会怎样？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0F0FA"/>
                </a:solidFill>
              </a:rPr>
              <a:t>考研还是就业？留在大厂还是创业？留在北京还是回老家？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0F0FA"/>
                </a:solidFill>
              </a:rPr>
              <a:t>这些决定可能改变未来十年的人生轨迹。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8C8E8"/>
                </a:solidFill>
              </a:rPr>
              <a:t>但做决定之前，永远看不到另一条路上会发生什么。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3474720" cy="2011680"/>
          </a:xfrm>
          <a:prstGeom prst="rect">
            <a:avLst>
              <a:gd name="adj" fmla="val 2273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840480"/>
            <a:ext cx="54864" cy="2011680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4114800"/>
            <a:ext cx="548640" cy="548640"/>
          </a:xfrm>
          <a:prstGeom prst="ellipse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1A"/>
                </a:solidFill>
              </a:rPr>
              <a:t>?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37360" y="4114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A"/>
                </a:solidFill>
              </a:rPr>
              <a:t>缺乏科学工具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4434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E8"/>
                </a:solidFill>
              </a:rPr>
              <a:t>传统决策靠经验和直觉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3840480"/>
            <a:ext cx="3474720" cy="2011680"/>
          </a:xfrm>
          <a:prstGeom prst="rect">
            <a:avLst>
              <a:gd name="adj" fmla="val 2273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0" y="3840480"/>
            <a:ext cx="54864" cy="201168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4114800"/>
            <a:ext cx="548640" cy="5486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1A"/>
                </a:solidFill>
              </a:rPr>
              <a:t>!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0" y="4114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A"/>
                </a:solidFill>
              </a:rPr>
              <a:t>无法预见未来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0" y="4434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E8"/>
                </a:solidFill>
              </a:rPr>
              <a:t>看不到另一条路的结果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0" y="3840480"/>
            <a:ext cx="3474720" cy="2011680"/>
          </a:xfrm>
          <a:prstGeom prst="rect">
            <a:avLst>
              <a:gd name="adj" fmla="val 2273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3840480"/>
            <a:ext cx="54864" cy="201168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4114800"/>
            <a:ext cx="548640" cy="5486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1A"/>
                </a:solidFill>
              </a:rPr>
              <a:t>x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35440" y="4114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A"/>
                </a:solidFill>
              </a:rPr>
              <a:t>决策后无法复盘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35440" y="4434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E8"/>
                </a:solidFill>
              </a:rPr>
              <a:t>没有对比和成长追踪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A"/>
                </a:solidFill>
              </a:rPr>
              <a:t>用户痛点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PAIN POINTS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0515600" cy="1051560"/>
          </a:xfrm>
          <a:prstGeom prst="rect">
            <a:avLst>
              <a:gd name="adj" fmla="val 4348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" cy="1051560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002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A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103120" y="1600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A"/>
                </a:solidFill>
              </a:rPr>
              <a:t>决策焦虑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03120" y="19659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E8"/>
                </a:solidFill>
              </a:rPr>
              <a:t>面对考研、就业、创业等重大选择时，87%的年轻人感到焦虑和迷茫，缺乏科学依据支撑决策。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10515600" cy="1051560"/>
          </a:xfrm>
          <a:prstGeom prst="rect">
            <a:avLst>
              <a:gd name="adj" fmla="val 4348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697480"/>
            <a:ext cx="54864" cy="105156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8346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10312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A"/>
                </a:solidFill>
              </a:rPr>
              <a:t>信息不对称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03120" y="32004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E8"/>
                </a:solidFill>
              </a:rPr>
              <a:t>无法同时走两条路，无法预知另一条路的终点。传统方式只能靠问朋友、查资料，停留在经验层面。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10515600" cy="1051560"/>
          </a:xfrm>
          <a:prstGeom prst="rect">
            <a:avLst>
              <a:gd name="adj" fmla="val 4348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931920"/>
            <a:ext cx="54864" cy="105156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069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103120" y="4069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A"/>
                </a:solidFill>
              </a:rPr>
              <a:t>缺乏个性化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03120" y="4434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E8"/>
                </a:solidFill>
              </a:rPr>
              <a:t>市面上的职业规划工具只提供性格测试，告诉你适合做什么，但人生不是性格测试。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5166360"/>
            <a:ext cx="10515600" cy="1051560"/>
          </a:xfrm>
          <a:prstGeom prst="rect">
            <a:avLst>
              <a:gd name="adj" fmla="val 4348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5166360"/>
            <a:ext cx="54864" cy="1051560"/>
          </a:xfrm>
          <a:prstGeom prst="rect">
            <a:avLst/>
          </a:prstGeom>
          <a:solidFill>
            <a:srgbClr val="FF6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3035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9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2103120" y="5303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A"/>
                </a:solidFill>
              </a:rPr>
              <a:t>无成长追踪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103120" y="56692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E8"/>
                </a:solidFill>
              </a:rPr>
              <a:t>做完决定后没有复盘机制，无法对比预测与实际，决策能力无法量化提升。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A"/>
                </a:solidFill>
              </a:rPr>
              <a:t>解决方案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FF"/>
                </a:solidFill>
              </a:rPr>
              <a:t>用 AI 帮你预见不同选择下的人生轨迹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2560320" cy="2743200"/>
          </a:xfrm>
          <a:prstGeom prst="rect">
            <a:avLst>
              <a:gd name="adj" fmla="val 1786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103120"/>
            <a:ext cx="54864" cy="2743200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2377440"/>
            <a:ext cx="822960" cy="82296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A1A"/>
                </a:solidFill>
              </a:rPr>
              <a:t>A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914400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A"/>
                </a:solidFill>
              </a:rPr>
              <a:t>安稳宇宙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C8E8"/>
                </a:solidFill>
              </a:rPr>
              <a:t>延续当前轨迹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C8E8"/>
                </a:solidFill>
              </a:rPr>
              <a:t>稳中求进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20440" y="2103120"/>
            <a:ext cx="2560320" cy="2743200"/>
          </a:xfrm>
          <a:prstGeom prst="rect">
            <a:avLst>
              <a:gd name="adj" fmla="val 1786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2103120"/>
            <a:ext cx="54864" cy="2743200"/>
          </a:xfrm>
          <a:prstGeom prst="rect">
            <a:avLst/>
          </a:prstGeom>
          <a:solidFill>
            <a:srgbClr val="FF6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2377440"/>
            <a:ext cx="822960" cy="82296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A1A"/>
                </a:solidFill>
              </a:rPr>
              <a:t>B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703320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A"/>
                </a:solidFill>
              </a:rPr>
              <a:t>突破宇宙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03320" y="37490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C8E8"/>
                </a:solidFill>
              </a:rPr>
              <a:t>坚定执行决定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C8E8"/>
                </a:solidFill>
              </a:rPr>
              <a:t>破局重生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2103120"/>
            <a:ext cx="2560320" cy="2743200"/>
          </a:xfrm>
          <a:prstGeom prst="rect">
            <a:avLst>
              <a:gd name="adj" fmla="val 1786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2103120"/>
            <a:ext cx="54864" cy="274320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2377440"/>
            <a:ext cx="822960" cy="82296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A1A"/>
                </a:solidFill>
              </a:rPr>
              <a:t>C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492240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A"/>
                </a:solidFill>
              </a:rPr>
              <a:t>成长宇宙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37490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C8E8"/>
                </a:solidFill>
              </a:rPr>
              <a:t>渐进转型路径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C8E8"/>
                </a:solidFill>
              </a:rPr>
              <a:t>平衡发展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98280" y="2103120"/>
            <a:ext cx="2560320" cy="2743200"/>
          </a:xfrm>
          <a:prstGeom prst="rect">
            <a:avLst>
              <a:gd name="adj" fmla="val 1786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98280" y="2103120"/>
            <a:ext cx="54864" cy="274320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66960" y="2377440"/>
            <a:ext cx="822960" cy="82296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6696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A1A"/>
                </a:solidFill>
              </a:rPr>
              <a:t>D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9281160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A"/>
                </a:solidFill>
              </a:rPr>
              <a:t>创新宇宙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281160" y="37490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C8E8"/>
                </a:solidFill>
              </a:rPr>
              <a:t>差异化路线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C8E8"/>
                </a:solidFill>
              </a:rPr>
              <a:t>探索可能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输入人生参数  →  AI 推演四重宇宙  →  深度分析  →  决策成长闭环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A"/>
                </a:solidFill>
              </a:rPr>
              <a:t>核心功能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FEATURES · 14项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417320" cy="1325880"/>
          </a:xfrm>
          <a:prstGeom prst="rect">
            <a:avLst>
              <a:gd name="adj" fmla="val 3448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" cy="1325880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54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0FA"/>
                </a:solidFill>
              </a:rPr>
              <a:t>四重宇宙推演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423160"/>
            <a:ext cx="457200" cy="182880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4231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E8"/>
                </a:solidFill>
              </a:rPr>
              <a:t>核心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04288" y="1463040"/>
            <a:ext cx="1417320" cy="1325880"/>
          </a:xfrm>
          <a:prstGeom prst="rect">
            <a:avLst>
              <a:gd name="adj" fmla="val 3448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04288" y="1463040"/>
            <a:ext cx="54864" cy="132588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41448" y="1554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95728" y="182880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0FA"/>
                </a:solidFill>
              </a:rPr>
              <a:t>AI 决策树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41448" y="2423160"/>
            <a:ext cx="457200" cy="18288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44368" y="24231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E8"/>
                </a:solidFill>
              </a:rPr>
              <a:t>分析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77056" y="1463040"/>
            <a:ext cx="1417320" cy="1325880"/>
          </a:xfrm>
          <a:prstGeom prst="rect">
            <a:avLst>
              <a:gd name="adj" fmla="val 3448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77056" y="1463040"/>
            <a:ext cx="54864" cy="132588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14216" y="1554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68496" y="182880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0FA"/>
                </a:solidFill>
              </a:rPr>
              <a:t>风险预警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14216" y="2423160"/>
            <a:ext cx="457200" cy="18288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17136" y="24231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E8"/>
                </a:solidFill>
              </a:rPr>
              <a:t>分析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9824" y="1463040"/>
            <a:ext cx="1417320" cy="1325880"/>
          </a:xfrm>
          <a:prstGeom prst="rect">
            <a:avLst>
              <a:gd name="adj" fmla="val 3448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9824" y="1463040"/>
            <a:ext cx="54864" cy="132588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86984" y="1554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41264" y="182880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0FA"/>
                </a:solidFill>
              </a:rPr>
              <a:t>AI 未来来信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86984" y="2423160"/>
            <a:ext cx="457200" cy="18288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9904" y="24231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E8"/>
                </a:solidFill>
              </a:rPr>
              <a:t>分析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22592" y="1463040"/>
            <a:ext cx="1417320" cy="1325880"/>
          </a:xfrm>
          <a:prstGeom prst="rect">
            <a:avLst>
              <a:gd name="adj" fmla="val 3448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22592" y="1463040"/>
            <a:ext cx="54864" cy="132588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59752" y="1554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14032" y="182880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0FA"/>
                </a:solidFill>
              </a:rPr>
              <a:t>后悔指数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159752" y="2423160"/>
            <a:ext cx="457200" cy="18288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62672" y="24231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E8"/>
                </a:solidFill>
              </a:rPr>
              <a:t>分析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595360" y="1463040"/>
            <a:ext cx="1417320" cy="1325880"/>
          </a:xfrm>
          <a:prstGeom prst="rect">
            <a:avLst>
              <a:gd name="adj" fmla="val 3448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95360" y="1463040"/>
            <a:ext cx="54864" cy="132588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32520" y="1554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686800" y="182880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0FA"/>
                </a:solidFill>
              </a:rPr>
              <a:t>人生价值雷达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732520" y="2423160"/>
            <a:ext cx="457200" cy="18288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35440" y="24231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E8"/>
                </a:solidFill>
              </a:rPr>
              <a:t>分析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168128" y="1463040"/>
            <a:ext cx="1417320" cy="1325880"/>
          </a:xfrm>
          <a:prstGeom prst="rect">
            <a:avLst>
              <a:gd name="adj" fmla="val 3448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68128" y="1463040"/>
            <a:ext cx="54864" cy="132588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305288" y="1554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259568" y="182880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0FA"/>
                </a:solidFill>
              </a:rPr>
              <a:t>AI 案例库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0305288" y="2423160"/>
            <a:ext cx="457200" cy="18288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808208" y="24231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E8"/>
                </a:solidFill>
              </a:rPr>
              <a:t>分析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31520" y="3017520"/>
            <a:ext cx="1417320" cy="1325880"/>
          </a:xfrm>
          <a:prstGeom prst="rect">
            <a:avLst>
              <a:gd name="adj" fmla="val 3448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1520" y="3017520"/>
            <a:ext cx="54864" cy="132588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8680" y="3108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960" y="338328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0FA"/>
                </a:solidFill>
              </a:rPr>
              <a:t>AI 未来采访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68680" y="3977640"/>
            <a:ext cx="457200" cy="18288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71600" y="39776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E8"/>
                </a:solidFill>
              </a:rPr>
              <a:t>分析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304288" y="3017520"/>
            <a:ext cx="1417320" cy="1325880"/>
          </a:xfrm>
          <a:prstGeom prst="rect">
            <a:avLst>
              <a:gd name="adj" fmla="val 3448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04288" y="3017520"/>
            <a:ext cx="54864" cy="132588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41448" y="3108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395728" y="338328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0FA"/>
                </a:solidFill>
              </a:rPr>
              <a:t>决策复盘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441448" y="3977640"/>
            <a:ext cx="457200" cy="18288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944368" y="39776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E8"/>
                </a:solidFill>
              </a:rPr>
              <a:t>成长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877056" y="3017520"/>
            <a:ext cx="1417320" cy="1325880"/>
          </a:xfrm>
          <a:prstGeom prst="rect">
            <a:avLst>
              <a:gd name="adj" fmla="val 3448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877056" y="3017520"/>
            <a:ext cx="54864" cy="132588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014216" y="3108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968496" y="338328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0FA"/>
                </a:solidFill>
              </a:rPr>
              <a:t>决策档案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014216" y="3977640"/>
            <a:ext cx="457200" cy="18288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17136" y="39776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E8"/>
                </a:solidFill>
              </a:rPr>
              <a:t>成长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449824" y="3017520"/>
            <a:ext cx="1417320" cy="1325880"/>
          </a:xfrm>
          <a:prstGeom prst="rect">
            <a:avLst>
              <a:gd name="adj" fmla="val 3448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49824" y="3017520"/>
            <a:ext cx="54864" cy="132588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586984" y="3108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541264" y="338328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0FA"/>
                </a:solidFill>
              </a:rPr>
              <a:t>AI 人生地图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586984" y="3977640"/>
            <a:ext cx="457200" cy="18288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089904" y="39776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E8"/>
                </a:solidFill>
              </a:rPr>
              <a:t>成长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022592" y="3017520"/>
            <a:ext cx="1417320" cy="1325880"/>
          </a:xfrm>
          <a:prstGeom prst="rect">
            <a:avLst>
              <a:gd name="adj" fmla="val 3448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022592" y="3017520"/>
            <a:ext cx="54864" cy="132588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59752" y="3108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114032" y="338328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0FA"/>
                </a:solidFill>
              </a:rPr>
              <a:t>AI 决策体检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7159752" y="3977640"/>
            <a:ext cx="457200" cy="18288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662672" y="39776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E8"/>
                </a:solidFill>
              </a:rPr>
              <a:t>成长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595360" y="3017520"/>
            <a:ext cx="1417320" cy="1325880"/>
          </a:xfrm>
          <a:prstGeom prst="rect">
            <a:avLst>
              <a:gd name="adj" fmla="val 3448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595360" y="3017520"/>
            <a:ext cx="54864" cy="1325880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732520" y="3108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8686800" y="338328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0FA"/>
                </a:solidFill>
              </a:rPr>
              <a:t>PDF 报告导出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8732520" y="3977640"/>
            <a:ext cx="457200" cy="182880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235440" y="39776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E8"/>
                </a:solidFill>
              </a:rPr>
              <a:t>工具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10168128" y="3017520"/>
            <a:ext cx="1417320" cy="1325880"/>
          </a:xfrm>
          <a:prstGeom prst="rect">
            <a:avLst>
              <a:gd name="adj" fmla="val 3448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168128" y="3017520"/>
            <a:ext cx="54864" cy="1325880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305288" y="3108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10259568" y="338328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0FA"/>
                </a:solidFill>
              </a:rPr>
              <a:t>数据驾驶舱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10305288" y="3977640"/>
            <a:ext cx="457200" cy="182880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808208" y="39776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E8"/>
                </a:solidFill>
              </a:rPr>
              <a:t>工具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90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A"/>
                </a:solidFill>
              </a:rPr>
              <a:t>AI 能力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CAPABILITIES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4846320" cy="4572000"/>
          </a:xfrm>
          <a:prstGeom prst="rect">
            <a:avLst>
              <a:gd name="adj" fmla="val 1000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" cy="4572000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A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DeepSeek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5FF"/>
                </a:solidFill>
              </a:rPr>
              <a:t>大模型推理引擎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8346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200" dirty="0">
                <a:solidFill>
                  <a:srgbClr val="C8C8E8"/>
                </a:solidFill>
              </a:rPr>
              <a:t>四重平行宇宙推演 — 生成四个维度的完整未来图景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200" dirty="0">
                <a:solidFill>
                  <a:srgbClr val="C8C8E8"/>
                </a:solidFill>
              </a:rPr>
              <a:t>AI 决策树 — 树状图展示路径和概率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6576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200" dirty="0">
                <a:solidFill>
                  <a:srgbClr val="C8C8E8"/>
                </a:solidFill>
              </a:rPr>
              <a:t>AI 未来来信 — 3/5/10年后的自己写信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0690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200" dirty="0">
                <a:solidFill>
                  <a:srgbClr val="C8C8E8"/>
                </a:solidFill>
              </a:rPr>
              <a:t>AI 未来采访 — 问答形式呈现未来视角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44805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200" dirty="0">
                <a:solidFill>
                  <a:srgbClr val="C8C8E8"/>
                </a:solidFill>
              </a:rPr>
              <a:t>AI 案例库 — 相似用户案例匹配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48920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200" dirty="0">
                <a:solidFill>
                  <a:srgbClr val="C8C8E8"/>
                </a:solidFill>
              </a:rPr>
              <a:t>AI 决策体检 — 六维能力量化评估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5303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200" dirty="0">
                <a:solidFill>
                  <a:srgbClr val="C8C8E8"/>
                </a:solidFill>
              </a:rPr>
              <a:t>Prompt Engineering — 结构化JSON输出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1463040"/>
            <a:ext cx="2560320" cy="1325880"/>
          </a:xfrm>
          <a:prstGeom prst="rect">
            <a:avLst>
              <a:gd name="adj" fmla="val 3448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1463040"/>
            <a:ext cx="54864" cy="1325880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645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重宇宙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26480" y="2240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E8"/>
                </a:solidFill>
              </a:rPr>
              <a:t>推演维度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0" y="1463040"/>
            <a:ext cx="2560320" cy="1325880"/>
          </a:xfrm>
          <a:prstGeom prst="rect">
            <a:avLst>
              <a:gd name="adj" fmla="val 3448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1463040"/>
            <a:ext cx="54864" cy="132588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1645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项深度分析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869680" y="2240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E8"/>
                </a:solidFill>
              </a:rPr>
              <a:t>分析模块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0" y="2971800"/>
            <a:ext cx="2560320" cy="1325880"/>
          </a:xfrm>
          <a:prstGeom prst="rect">
            <a:avLst>
              <a:gd name="adj" fmla="val 3448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2971800"/>
            <a:ext cx="54864" cy="132588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3154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年轨迹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126480" y="3749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E8"/>
                </a:solidFill>
              </a:rPr>
              <a:t>时间跨度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686800" y="2971800"/>
            <a:ext cx="2560320" cy="1325880"/>
          </a:xfrm>
          <a:prstGeom prst="rect">
            <a:avLst>
              <a:gd name="adj" fmla="val 3448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0" y="2971800"/>
            <a:ext cx="54864" cy="1325880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3154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维能力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869680" y="3749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E8"/>
                </a:solidFill>
              </a:rPr>
              <a:t>评估维度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0" y="4480560"/>
            <a:ext cx="2560320" cy="1325880"/>
          </a:xfrm>
          <a:prstGeom prst="rect">
            <a:avLst>
              <a:gd name="adj" fmla="val 3448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4480560"/>
            <a:ext cx="54864" cy="1325880"/>
          </a:xfrm>
          <a:prstGeom prst="rect">
            <a:avLst/>
          </a:prstGeom>
          <a:solidFill>
            <a:srgbClr val="FF6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46634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9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 个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126480" y="5257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E8"/>
                </a:solidFill>
              </a:rPr>
              <a:t>API 端点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686800" y="4480560"/>
            <a:ext cx="2560320" cy="1325880"/>
          </a:xfrm>
          <a:prstGeom prst="rect">
            <a:avLst>
              <a:gd name="adj" fmla="val 3448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6800" y="4480560"/>
            <a:ext cx="54864" cy="1325880"/>
          </a:xfrm>
          <a:prstGeom prst="rect">
            <a:avLst/>
          </a:prstGeom>
          <a:solidFill>
            <a:srgbClr val="FFA5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69680" y="46634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种类型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869680" y="5257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E8"/>
                </a:solidFill>
              </a:rPr>
              <a:t>人格标签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41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A"/>
                </a:solidFill>
              </a:rPr>
              <a:t>技术架构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9418320" cy="1280160"/>
          </a:xfrm>
          <a:prstGeom prst="rect">
            <a:avLst>
              <a:gd name="adj" fmla="val 3571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371600"/>
            <a:ext cx="54864" cy="1280160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3FF"/>
                </a:solidFill>
              </a:rPr>
              <a:t>前端展示层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874520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 3 · Vite · Vue Router · ECharts · html2canvas · jsPDF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45920" y="2194560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E8"/>
                </a:solidFill>
              </a:rPr>
              <a:t>10 页面 · 7 组件 · 玻璃拟态UI · 响应式设计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2926080"/>
            <a:ext cx="9418320" cy="1280160"/>
          </a:xfrm>
          <a:prstGeom prst="rect">
            <a:avLst>
              <a:gd name="adj" fmla="val 3571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926080"/>
            <a:ext cx="54864" cy="128016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3063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EFF"/>
                </a:solidFill>
              </a:rPr>
              <a:t>API 接口层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3429000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Express.js · RESTful API · CORS · Axios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3749040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E8"/>
                </a:solidFill>
              </a:rPr>
              <a:t>15 个端点 · 统一错误处理 · Mock 数据兜底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2697480"/>
            <a:ext cx="457200" cy="228600"/>
          </a:xfrm>
          <a:prstGeom prst="rect">
            <a:avLst/>
          </a:prstGeom>
          <a:solidFill>
            <a:srgbClr val="C8C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4480560"/>
            <a:ext cx="4572000" cy="1554480"/>
          </a:xfrm>
          <a:prstGeom prst="rect">
            <a:avLst>
              <a:gd name="adj" fmla="val 2941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4480560"/>
            <a:ext cx="54864" cy="155448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4617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</a:rPr>
              <a:t>AI 推演层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49834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 大模型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45920" y="5303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E8"/>
                </a:solidFill>
              </a:rPr>
              <a:t>Prompt Engineering · 结构化JSON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45920" y="5623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E8"/>
                </a:solidFill>
              </a:rPr>
              <a:t>容错降级 · Mock 数据兜底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4480560"/>
            <a:ext cx="4572000" cy="1554480"/>
          </a:xfrm>
          <a:prstGeom prst="rect">
            <a:avLst>
              <a:gd name="adj" fmla="val 2941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4480560"/>
            <a:ext cx="54864" cy="1554480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617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</a:rPr>
              <a:t>数据层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2240" y="49834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· localStorage · sessionStorage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5303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E8"/>
                </a:solidFill>
              </a:rPr>
              <a:t>历史记录持久化 · 跨页传参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5623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E8"/>
                </a:solidFill>
              </a:rPr>
              <a:t>用户偏好 · 决策档案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A"/>
                </a:solidFill>
              </a:rPr>
              <a:t>创新点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 INNOVATIONS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120640" cy="2194560"/>
          </a:xfrm>
          <a:prstGeom prst="rect">
            <a:avLst>
              <a:gd name="adj" fmla="val 2083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54864" cy="2194560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54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A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103120" y="1600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A"/>
                </a:solidFill>
              </a:rPr>
              <a:t>四重平行宇宙推演引擎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3774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8C8E8"/>
                </a:solidFill>
              </a:rPr>
              <a:t>独创安稳/突破/成长/创新四维模型，基于DeepSeek大模型深度推演，每宇宙含未来图景、时间线、收入变化与幸福指数。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5120640" cy="2194560"/>
          </a:xfrm>
          <a:prstGeom prst="rect">
            <a:avLst>
              <a:gd name="adj" fmla="val 2083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1371600"/>
            <a:ext cx="54864" cy="219456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554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498080" y="1600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A"/>
                </a:solidFill>
              </a:rPr>
              <a:t>决策全生命周期闭环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23774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8C8E8"/>
                </a:solidFill>
              </a:rPr>
              <a:t>推演到体检五阶段闭环，30/90/180天三阶段复盘，AI对比原始预测与实际结果，持续优化决策能力。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5120640" cy="2194560"/>
          </a:xfrm>
          <a:prstGeom prst="rect">
            <a:avLst>
              <a:gd name="adj" fmla="val 2083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840480"/>
            <a:ext cx="54864" cy="219456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0233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103120" y="4069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A"/>
                </a:solidFill>
              </a:rPr>
              <a:t>六维决策能力体检系统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8463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8C8E8"/>
                </a:solidFill>
              </a:rPr>
              <a:t>风险承受力、执行力、长期主义、学习力、创新力、成长欲六维量化评估，生成决策人格标签。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3840480"/>
            <a:ext cx="5120640" cy="2194560"/>
          </a:xfrm>
          <a:prstGeom prst="rect">
            <a:avLst>
              <a:gd name="adj" fmla="val 2083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3840480"/>
            <a:ext cx="54864" cy="2194560"/>
          </a:xfrm>
          <a:prstGeom prst="rect">
            <a:avLst/>
          </a:prstGeom>
          <a:solidFill>
            <a:srgbClr val="FF6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40233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9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498080" y="4069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A"/>
                </a:solidFill>
              </a:rPr>
              <a:t>AI人生地图可视化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48463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8C8E8"/>
                </a:solidFill>
              </a:rPr>
              <a:t>16节点5类型树状图谱，贝塞尔曲线连接，点击展开每个节点的可能未来，交互式探索。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A"/>
                </a:solidFill>
              </a:rPr>
              <a:t>商业模式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474720" cy="4572000"/>
          </a:xfrm>
          <a:prstGeom prst="rect">
            <a:avLst>
              <a:gd name="adj" fmla="val 1316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54864" cy="4572000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645920"/>
            <a:ext cx="914400" cy="320040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1A"/>
                </a:solidFill>
              </a:rPr>
              <a:t>B2C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0FA"/>
                </a:solidFill>
              </a:rPr>
              <a:t>个人订阅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A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9.9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005840" y="3383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8"/>
                </a:solidFill>
              </a:rPr>
              <a:t>元/月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9319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8C8E8"/>
                </a:solidFill>
              </a:rPr>
              <a:t>面向20-35岁面临人生决策的年轻用户。基础版免费（Mock数据），Pro版提供真实AI推演、决策体检和PDF导出。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5394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3FF"/>
                </a:solidFill>
              </a:rPr>
              <a:t>目标用户: 2000万+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1371600"/>
            <a:ext cx="3474720" cy="4572000"/>
          </a:xfrm>
          <a:prstGeom prst="rect">
            <a:avLst>
              <a:gd name="adj" fmla="val 1316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1371600"/>
            <a:ext cx="54864" cy="457200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645920"/>
            <a:ext cx="914400" cy="32004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645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1A"/>
                </a:solidFill>
              </a:rPr>
              <a:t>B2B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0FA"/>
                </a:solidFill>
              </a:rPr>
              <a:t>企业服务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54880" y="2651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定制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4754880" y="3383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8"/>
                </a:solidFill>
              </a:rPr>
              <a:t>年费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9319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8C8E8"/>
                </a:solidFill>
              </a:rPr>
              <a:t>面向企业HR和培训部门，提供员工职业规划辅助工具。帮助人才发展决策，提升员工满意度和留存率。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5394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目标客户: 中大型企业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0" y="1371600"/>
            <a:ext cx="3474720" cy="4572000"/>
          </a:xfrm>
          <a:prstGeom prst="rect">
            <a:avLst>
              <a:gd name="adj" fmla="val 1316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1371600"/>
            <a:ext cx="54864" cy="457200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3920" y="1645920"/>
            <a:ext cx="914400" cy="32004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1645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1A"/>
                </a:solidFill>
              </a:rPr>
              <a:t>B2G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3920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0FA"/>
                </a:solidFill>
              </a:rPr>
              <a:t>高校合作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503920" y="2651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合作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8503920" y="3383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8"/>
                </a:solidFill>
              </a:rPr>
              <a:t>项目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503920" y="39319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8C8E8"/>
                </a:solidFill>
              </a:rPr>
              <a:t>面向高校就业指导中心，作为就业辅导工具部署。帮助毕业生科学规划职业路径，提升就业质量。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03920" y="5394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目标机构: 高校就业中心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</a:rPr>
              <a:t>C端口碑  →  B端变现  →  G端背书  ·  三轮驱动商业飞轮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A"/>
                </a:solidFill>
              </a:rPr>
              <a:t>社会价值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SOCIAL VALUE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474720" cy="4114800"/>
          </a:xfrm>
          <a:prstGeom prst="rect">
            <a:avLst>
              <a:gd name="adj" fmla="val 1316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54864" cy="4114800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A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8E8"/>
                </a:solidFill>
              </a:rPr>
              <a:t>年轻人决策焦虑比例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3017520"/>
            <a:ext cx="914400" cy="27432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A"/>
                </a:solidFill>
              </a:rPr>
              <a:t>减少决策焦虑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65760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8C8E8"/>
                </a:solidFill>
              </a:rPr>
              <a:t>当用户看到四个平行宇宙的推演结果，焦虑感显著降低。不确定性被具象化，看得见的可能性比看不见的未来更容易接受。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1371600"/>
            <a:ext cx="3474720" cy="4114800"/>
          </a:xfrm>
          <a:prstGeom prst="rect">
            <a:avLst>
              <a:gd name="adj" fmla="val 1316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371600"/>
            <a:ext cx="54864" cy="411480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6459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4754880" y="2560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8E8"/>
                </a:solidFill>
              </a:rPr>
              <a:t>维度量化评估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3017520"/>
            <a:ext cx="914400" cy="27432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A"/>
                </a:solidFill>
              </a:rPr>
              <a:t>量化决策能力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365760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8C8E8"/>
                </a:solidFill>
              </a:rPr>
              <a:t>六维决策能力体检把抽象概念变成可测量、可追踪的指标。用户知道哪个维度强、哪个弱，有针对性地提升。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1371600"/>
            <a:ext cx="3474720" cy="4114800"/>
          </a:xfrm>
          <a:prstGeom prst="rect">
            <a:avLst>
              <a:gd name="adj" fmla="val 1316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1371600"/>
            <a:ext cx="54864" cy="411480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16459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9.9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8503920" y="2560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8E8"/>
                </a:solidFill>
              </a:rPr>
              <a:t>元/月 普惠定价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509760" y="3017520"/>
            <a:ext cx="914400" cy="27432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A"/>
                </a:solidFill>
              </a:rPr>
              <a:t>AI 民主化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03920" y="365760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8C8E8"/>
                </a:solidFill>
              </a:rPr>
              <a:t>大模型推理能力不应只服务大企业。9.9元/月，低于一杯咖啡，让每个普通人都能获得AI辅助决策的能力。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A"/>
                </a:solidFill>
              </a:rPr>
              <a:t>项目成果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RESULTS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474720" cy="1417320"/>
          </a:xfrm>
          <a:prstGeom prst="rect">
            <a:avLst>
              <a:gd name="adj" fmla="val 3226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54864" cy="1417320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544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A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560320" y="15544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8"/>
                </a:solidFill>
              </a:rPr>
              <a:t>页面路由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1371600"/>
            <a:ext cx="3474720" cy="1417320"/>
          </a:xfrm>
          <a:prstGeom prst="rect">
            <a:avLst>
              <a:gd name="adj" fmla="val 3226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371600"/>
            <a:ext cx="54864" cy="141732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544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09360" y="15544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8"/>
                </a:solidFill>
              </a:rPr>
              <a:t>Vue组件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1371600"/>
            <a:ext cx="3474720" cy="1417320"/>
          </a:xfrm>
          <a:prstGeom prst="rect">
            <a:avLst>
              <a:gd name="adj" fmla="val 3226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371600"/>
            <a:ext cx="54864" cy="141732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5544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10058400" y="15544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8"/>
                </a:solidFill>
              </a:rPr>
              <a:t>API端点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017520"/>
            <a:ext cx="3474720" cy="1417320"/>
          </a:xfrm>
          <a:prstGeom prst="rect">
            <a:avLst>
              <a:gd name="adj" fmla="val 3226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017520"/>
            <a:ext cx="54864" cy="1417320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2004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2560320" y="32004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8"/>
                </a:solidFill>
              </a:rPr>
              <a:t>核心功能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480560" y="3017520"/>
            <a:ext cx="3474720" cy="1417320"/>
          </a:xfrm>
          <a:prstGeom prst="rect">
            <a:avLst>
              <a:gd name="adj" fmla="val 3226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3017520"/>
            <a:ext cx="54864" cy="1417320"/>
          </a:xfrm>
          <a:prstGeom prst="rect">
            <a:avLst/>
          </a:prstGeom>
          <a:solidFill>
            <a:srgbClr val="FF6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004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B9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1K+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309360" y="32004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8"/>
                </a:solidFill>
              </a:rPr>
              <a:t>前端模块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29600" y="3017520"/>
            <a:ext cx="3474720" cy="1417320"/>
          </a:xfrm>
          <a:prstGeom prst="rect">
            <a:avLst>
              <a:gd name="adj" fmla="val 3226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3017520"/>
            <a:ext cx="54864" cy="1417320"/>
          </a:xfrm>
          <a:prstGeom prst="rect">
            <a:avLst/>
          </a:prstGeom>
          <a:solidFill>
            <a:srgbClr val="FFA5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32004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10058400" y="32004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8"/>
                </a:solidFill>
              </a:rPr>
              <a:t>比赛文档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48463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300" dirty="0">
                <a:solidFill>
                  <a:srgbClr val="F0F0FA"/>
                </a:solidFill>
              </a:rPr>
              <a:t>完整覆盖推演到成长的决策全生命周期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300" dirty="0">
                <a:solidFill>
                  <a:srgbClr val="C8C8E8"/>
                </a:solidFill>
              </a:rPr>
              <a:t>DeepSeek AI + Mock 双模式，无API Key也能完整体验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300" dirty="0">
                <a:solidFill>
                  <a:srgbClr val="C8C8E8"/>
                </a:solidFill>
              </a:rPr>
              <a:t>生产环境单端口部署，PM2 + Nginx + SSL 一键配置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300" dirty="0">
                <a:solidFill>
                  <a:srgbClr val="C8C8E8"/>
                </a:solidFill>
              </a:rPr>
              <a:t>Git 版本管理 v1.0 标签，MIT 开源协议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31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A"/>
                </a:solidFill>
              </a:rPr>
              <a:t>未来规划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474720" cy="4572000"/>
          </a:xfrm>
          <a:prstGeom prst="rect">
            <a:avLst>
              <a:gd name="adj" fmla="val 1316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54864" cy="4572000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645920"/>
            <a:ext cx="1097280" cy="320040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1A"/>
                </a:solidFill>
              </a:rPr>
              <a:t>短期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1-3 个月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FA"/>
                </a:solidFill>
              </a:rPr>
              <a:t>优化与增长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200" dirty="0">
                <a:solidFill>
                  <a:srgbClr val="C8C8E8"/>
                </a:solidFill>
              </a:rPr>
              <a:t>接入真实 DeepSeek API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200" dirty="0">
                <a:solidFill>
                  <a:srgbClr val="C8C8E8"/>
                </a:solidFill>
              </a:rPr>
              <a:t>优化 AI 推演准确度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200" dirty="0">
                <a:solidFill>
                  <a:srgbClr val="C8C8E8"/>
                </a:solidFill>
              </a:rPr>
              <a:t>增加用户量到 1000+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4754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200" dirty="0">
                <a:solidFill>
                  <a:srgbClr val="C8C8E8"/>
                </a:solidFill>
              </a:rPr>
              <a:t>完善移动端体验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560" y="1371600"/>
            <a:ext cx="3474720" cy="4572000"/>
          </a:xfrm>
          <a:prstGeom prst="rect">
            <a:avLst>
              <a:gd name="adj" fmla="val 1316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1371600"/>
            <a:ext cx="54864" cy="457200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645920"/>
            <a:ext cx="1097280" cy="32004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645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1A"/>
                </a:solidFill>
              </a:rPr>
              <a:t>中期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103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3-6 个月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FA"/>
                </a:solidFill>
              </a:rPr>
              <a:t>企业版拓展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54880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200" dirty="0">
                <a:solidFill>
                  <a:srgbClr val="C8C8E8"/>
                </a:solidFill>
              </a:rPr>
              <a:t>推出 B2B 企业版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200" dirty="0">
                <a:solidFill>
                  <a:srgbClr val="C8C8E8"/>
                </a:solidFill>
              </a:rPr>
              <a:t>增加团队协作功能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200" dirty="0">
                <a:solidFill>
                  <a:srgbClr val="C8C8E8"/>
                </a:solidFill>
              </a:rPr>
              <a:t>对接高校就业系统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4754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200" dirty="0">
                <a:solidFill>
                  <a:srgbClr val="C8C8E8"/>
                </a:solidFill>
              </a:rPr>
              <a:t>探索 API 开放平台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0" y="1371600"/>
            <a:ext cx="3474720" cy="4572000"/>
          </a:xfrm>
          <a:prstGeom prst="rect">
            <a:avLst>
              <a:gd name="adj" fmla="val 1316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1371600"/>
            <a:ext cx="54864" cy="457200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0" y="1645920"/>
            <a:ext cx="1097280" cy="32004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1645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1A"/>
                </a:solidFill>
              </a:rPr>
              <a:t>长期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03920" y="2103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6-12 个月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0392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FA"/>
                </a:solidFill>
              </a:rPr>
              <a:t>生态构建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503920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200" dirty="0">
                <a:solidFill>
                  <a:srgbClr val="C8C8E8"/>
                </a:solidFill>
              </a:rPr>
              <a:t>构建人生决策 AI 生态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392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200" dirty="0">
                <a:solidFill>
                  <a:srgbClr val="C8C8E8"/>
                </a:solidFill>
              </a:rPr>
              <a:t>开放第三方插件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0392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200" dirty="0">
                <a:solidFill>
                  <a:srgbClr val="C8C8E8"/>
                </a:solidFill>
              </a:rPr>
              <a:t>多语言国际化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03920" y="4754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200" dirty="0">
                <a:solidFill>
                  <a:srgbClr val="C8C8E8"/>
                </a:solidFill>
              </a:rPr>
              <a:t>数据驱动的决策模型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A"/>
                </a:solidFill>
              </a:rPr>
              <a:t>应用场景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474720" cy="2011680"/>
          </a:xfrm>
          <a:prstGeom prst="rect">
            <a:avLst>
              <a:gd name="adj" fmla="val 2273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54864" cy="2011680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54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A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920240" y="1600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A"/>
                </a:solidFill>
              </a:rPr>
              <a:t>毕业生职业选择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C8E8"/>
                </a:solidFill>
              </a:rPr>
              <a:t>考研、就业、创业间的决策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371600"/>
            <a:ext cx="3474720" cy="2011680"/>
          </a:xfrm>
          <a:prstGeom prst="rect">
            <a:avLst>
              <a:gd name="adj" fmla="val 2273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371600"/>
            <a:ext cx="54864" cy="201168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54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669280" y="1600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A"/>
                </a:solidFill>
              </a:rPr>
              <a:t>职场转型决策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22860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C8E8"/>
                </a:solidFill>
              </a:rPr>
              <a:t>跳槽、转行、gap year 风险评估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371600"/>
            <a:ext cx="3474720" cy="2011680"/>
          </a:xfrm>
          <a:prstGeom prst="rect">
            <a:avLst>
              <a:gd name="adj" fmla="val 2273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371600"/>
            <a:ext cx="54864" cy="201168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1554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418320" y="1600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A"/>
                </a:solidFill>
              </a:rPr>
              <a:t>城市迁移规划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03920" y="22860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C8E8"/>
                </a:solidFill>
              </a:rPr>
              <a:t>一线城市 vs 回老家发展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657600"/>
            <a:ext cx="3474720" cy="2011680"/>
          </a:xfrm>
          <a:prstGeom prst="rect">
            <a:avLst>
              <a:gd name="adj" fmla="val 2273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657600"/>
            <a:ext cx="54864" cy="2011680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840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920240" y="3886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A"/>
                </a:solidFill>
              </a:rPr>
              <a:t>教育规划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05840" y="45720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C8E8"/>
                </a:solidFill>
              </a:rPr>
              <a:t>考研、留学、考证长期回报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80560" y="3657600"/>
            <a:ext cx="3474720" cy="2011680"/>
          </a:xfrm>
          <a:prstGeom prst="rect">
            <a:avLst>
              <a:gd name="adj" fmla="val 2273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3657600"/>
            <a:ext cx="54864" cy="2011680"/>
          </a:xfrm>
          <a:prstGeom prst="rect">
            <a:avLst/>
          </a:prstGeom>
          <a:solidFill>
            <a:srgbClr val="FF6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840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9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669280" y="3886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A"/>
                </a:solidFill>
              </a:rPr>
              <a:t>企业人才发展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754880" y="45720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C8E8"/>
                </a:solidFill>
              </a:rPr>
              <a:t>员工职业规划辅助工具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0" y="3657600"/>
            <a:ext cx="3474720" cy="2011680"/>
          </a:xfrm>
          <a:prstGeom prst="rect">
            <a:avLst>
              <a:gd name="adj" fmla="val 2273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3657600"/>
            <a:ext cx="54864" cy="2011680"/>
          </a:xfrm>
          <a:prstGeom prst="rect">
            <a:avLst/>
          </a:prstGeom>
          <a:solidFill>
            <a:srgbClr val="FFA5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3840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9418320" y="3886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A"/>
                </a:solidFill>
              </a:rPr>
              <a:t>心理咨询辅助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503920" y="45720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C8E8"/>
                </a:solidFill>
              </a:rPr>
              <a:t>帮助来访者理清决策困惑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A"/>
                </a:solidFill>
              </a:rPr>
              <a:t>团队介绍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846320" cy="4572000"/>
          </a:xfrm>
          <a:prstGeom prst="rect">
            <a:avLst>
              <a:gd name="adj" fmla="val 1000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54864" cy="4572000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1828800"/>
            <a:ext cx="1645920" cy="1645920"/>
          </a:xfrm>
          <a:prstGeom prst="ellipse">
            <a:avLst/>
          </a:prstGeom>
          <a:solidFill>
            <a:srgbClr val="8A63FF">
              <a:alpha val="30000"/>
            </a:srgbClr>
          </a:solidFill>
          <a:ln w="25400">
            <a:solidFill>
              <a:srgbClr val="8A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05840" y="36576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0FA"/>
                </a:solidFill>
              </a:rPr>
              <a:t>个人开发者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41148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E5FF"/>
                </a:solidFill>
              </a:rPr>
              <a:t>全栈工程师 · 产品设计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66344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8C8E8"/>
                </a:solidFill>
              </a:rPr>
              <a:t>独立完成产品设计、前后端开发、UI设计、AI Prompt工程全流程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53949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 3 · Express · DeepSeek · ECharts · MySQL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371600"/>
            <a:ext cx="5303520" cy="777240"/>
          </a:xfrm>
          <a:prstGeom prst="rect">
            <a:avLst>
              <a:gd name="adj" fmla="val 5882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1371600"/>
            <a:ext cx="54864" cy="777240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3FF"/>
                </a:solidFill>
              </a:rPr>
              <a:t>前端工程化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783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 3 Composition API + Vite + ECharts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2286000"/>
            <a:ext cx="5303520" cy="777240"/>
          </a:xfrm>
          <a:prstGeom prst="rect">
            <a:avLst>
              <a:gd name="adj" fmla="val 5882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2286000"/>
            <a:ext cx="54864" cy="777240"/>
          </a:xfrm>
          <a:prstGeom prst="rect">
            <a:avLst/>
          </a:prstGeom>
          <a:solidFill>
            <a:srgbClr val="4A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EFF"/>
                </a:solidFill>
              </a:rPr>
              <a:t>后端开发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2697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Express.js + RESTful API + MySQL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3200400"/>
            <a:ext cx="5303520" cy="777240"/>
          </a:xfrm>
          <a:prstGeom prst="rect">
            <a:avLst>
              <a:gd name="adj" fmla="val 5882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3200400"/>
            <a:ext cx="54864" cy="77724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</a:rPr>
              <a:t>AI 工程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36118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 Prompt Engineering + 结构化输出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4114800"/>
            <a:ext cx="5303520" cy="777240"/>
          </a:xfrm>
          <a:prstGeom prst="rect">
            <a:avLst>
              <a:gd name="adj" fmla="val 5882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4114800"/>
            <a:ext cx="54864" cy="777240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</a:rPr>
              <a:t>产品设计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4526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14项功能 · 10页面 · 4大创新点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0" y="5029200"/>
            <a:ext cx="5303520" cy="777240"/>
          </a:xfrm>
          <a:prstGeom prst="rect">
            <a:avLst>
              <a:gd name="adj" fmla="val 5882"/>
            </a:avLst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5029200"/>
            <a:ext cx="54864" cy="777240"/>
          </a:xfrm>
          <a:prstGeom prst="rect">
            <a:avLst/>
          </a:prstGeom>
          <a:solidFill>
            <a:srgbClr val="FF6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5120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9D"/>
                </a:solidFill>
              </a:rPr>
              <a:t>部署运维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17920" y="5440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PM2 + Nginx + SSL + Git 版本管理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8A63FF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4A9E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人生没有标准答案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 AI 可以帮你预见可能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184648" y="3383280"/>
            <a:ext cx="1828800" cy="27432"/>
          </a:xfrm>
          <a:prstGeom prst="rect">
            <a:avLst/>
          </a:prstGeom>
          <a:solidFill>
            <a:srgbClr val="8A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749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A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4389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C8E8"/>
                </a:solidFill>
              </a:rPr>
              <a:t>核心功能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3749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931920" y="4389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C8E8"/>
                </a:solidFill>
              </a:rPr>
              <a:t>创新点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3749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92240" y="4389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C8E8"/>
                </a:solidFill>
              </a:rPr>
              <a:t>API端点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052560" y="3749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052560" y="4389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C8E8"/>
                </a:solidFill>
              </a:rPr>
              <a:t>页面路由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E5FF"/>
                </a:solidFill>
              </a:rPr>
              <a:t>让每一个选择，都有平行宇宙的答案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C8E8"/>
                </a:solidFill>
              </a:rPr>
              <a:t>谢谢评委</a:t>
            </a:r>
            <a:endParaRPr lang="en-US" sz="1800" dirty="0"/>
          </a:p>
        </p:txBody>
      </p:sp>
      <p:sp>
        <p:nvSpPr>
          <p:cNvPr id="17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人生平行宇宙实验室 - AI人生决策成长平台</dc:title>
  <dc:subject>PptxGenJS Presentation</dc:subject>
  <dc:creator>人生平行宇宙实验室</dc:creator>
  <cp:lastModifiedBy>人生平行宇宙实验室</cp:lastModifiedBy>
  <cp:revision>1</cp:revision>
  <dcterms:created xsi:type="dcterms:W3CDTF">2026-06-22T15:58:02Z</dcterms:created>
  <dcterms:modified xsi:type="dcterms:W3CDTF">2026-06-22T15:58:02Z</dcterms:modified>
</cp:coreProperties>
</file>